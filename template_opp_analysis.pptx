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</p:sldIdLst>
  <p:sldSz cx="7556500" cy="10693400"/>
  <p:notesSz cx="6858000" cy="9144000"/>
  <p:embeddedFontLst>
    <p:embeddedFont>
      <p:font typeface="Arimo" panose="020B0604020202020204" charset="0"/>
      <p:regular r:id="rId4"/>
    </p:embeddedFont>
    <p:embeddedFont>
      <p:font typeface="Canva Sans" panose="020B0604020202020204" charset="0"/>
      <p:regular r:id="rId5"/>
    </p:embeddedFont>
    <p:embeddedFont>
      <p:font typeface="Canva Sans Bold" panose="020B0604020202020204" charset="0"/>
      <p:regular r:id="rId6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>
        <p:scale>
          <a:sx n="66" d="100"/>
          <a:sy n="66" d="100"/>
        </p:scale>
        <p:origin x="570" y="78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font" Target="fonts/font3.fntdata"/><Relationship Id="rId5" Type="http://schemas.openxmlformats.org/officeDocument/2006/relationships/font" Target="fonts/font2.fntdata"/><Relationship Id="rId10" Type="http://schemas.openxmlformats.org/officeDocument/2006/relationships/tableStyles" Target="tableStyles.xml"/><Relationship Id="rId4" Type="http://schemas.openxmlformats.org/officeDocument/2006/relationships/font" Target="fonts/font1.fntdata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24-Feb-26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24-Feb-26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24-Feb-26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24-Feb-26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24-Feb-26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24-Feb-26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24-Feb-26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24-Feb-26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24-Feb-26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24-Feb-26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24-Feb-26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24-Feb-26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DE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7560000" cy="921128"/>
            <a:chOff x="0" y="0"/>
            <a:chExt cx="2709333" cy="330111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709333" cy="330111"/>
            </a:xfrm>
            <a:custGeom>
              <a:avLst/>
              <a:gdLst/>
              <a:ahLst/>
              <a:cxnLst/>
              <a:rect l="l" t="t" r="r" b="b"/>
              <a:pathLst>
                <a:path w="2709333" h="330111">
                  <a:moveTo>
                    <a:pt x="0" y="0"/>
                  </a:moveTo>
                  <a:lnTo>
                    <a:pt x="2709333" y="0"/>
                  </a:lnTo>
                  <a:lnTo>
                    <a:pt x="2709333" y="330111"/>
                  </a:lnTo>
                  <a:lnTo>
                    <a:pt x="0" y="330111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LID4096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28575"/>
              <a:ext cx="2709333" cy="35868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584"/>
                </a:lnSpc>
              </a:pPr>
              <a:endParaRPr/>
            </a:p>
          </p:txBody>
        </p:sp>
      </p:grpSp>
      <p:graphicFrame>
        <p:nvGraphicFramePr>
          <p:cNvPr id="5" name="Table 5"/>
          <p:cNvGraphicFramePr>
            <a:graphicFrameLocks noGrp="1"/>
          </p:cNvGraphicFramePr>
          <p:nvPr/>
        </p:nvGraphicFramePr>
        <p:xfrm>
          <a:off x="469072" y="6784928"/>
          <a:ext cx="6575635" cy="2293200"/>
        </p:xfrm>
        <a:graphic>
          <a:graphicData uri="http://schemas.openxmlformats.org/drawingml/2006/table">
            <a:tbl>
              <a:tblPr/>
              <a:tblGrid>
                <a:gridCol w="184860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609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5080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9913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1618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701150"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Player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272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Corners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272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Cross Succ. %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272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1st choice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272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2nd choice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272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9844"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{best_taker_l}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{n_c_l1}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{cs_l1}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{1stc_l1}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{2ndc_l1}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3684"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{second_best_taker_l}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{n_c_l2}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{cs_l2}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{1stc_l2}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{2ndc_l2}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8522"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{third_best_taker_l}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{n_c_l3}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{cs_l3}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{1stc_l3}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{2ndc_l3}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2" name="TextBox 12"/>
          <p:cNvSpPr txBox="1"/>
          <p:nvPr/>
        </p:nvSpPr>
        <p:spPr>
          <a:xfrm>
            <a:off x="185540" y="1254714"/>
            <a:ext cx="3299222" cy="5938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444"/>
              </a:lnSpc>
              <a:spcBef>
                <a:spcPct val="0"/>
              </a:spcBef>
            </a:pPr>
            <a:r>
              <a:rPr lang="en-US" sz="1745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Att. Corners Left ({nlc}corners)</a:t>
            </a:r>
          </a:p>
          <a:p>
            <a:pPr algn="ctr">
              <a:lnSpc>
                <a:spcPts val="2444"/>
              </a:lnSpc>
              <a:spcBef>
                <a:spcPct val="0"/>
              </a:spcBef>
            </a:pPr>
            <a:endParaRPr lang="en-US" sz="1745">
              <a:solidFill>
                <a:srgbClr val="000000"/>
              </a:solidFill>
              <a:latin typeface="Canva Sans"/>
              <a:ea typeface="Canva Sans"/>
              <a:cs typeface="Canva Sans"/>
              <a:sym typeface="Canva Sans"/>
            </a:endParaRPr>
          </a:p>
        </p:txBody>
      </p:sp>
      <p:sp>
        <p:nvSpPr>
          <p:cNvPr id="13" name="TextBox 13"/>
          <p:cNvSpPr txBox="1"/>
          <p:nvPr/>
        </p:nvSpPr>
        <p:spPr>
          <a:xfrm>
            <a:off x="3799720" y="1254714"/>
            <a:ext cx="3512195" cy="288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50"/>
              </a:lnSpc>
              <a:spcBef>
                <a:spcPct val="0"/>
              </a:spcBef>
            </a:pPr>
            <a:r>
              <a:rPr lang="en-US" sz="175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Att. Corners Right ({nrc} corners)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3943257" y="3508263"/>
            <a:ext cx="3024000" cy="7359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59"/>
              </a:lnSpc>
              <a:spcBef>
                <a:spcPct val="0"/>
              </a:spcBef>
            </a:pPr>
            <a:r>
              <a:rPr lang="en-US" sz="13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How many attacking corners led to a shot? (Right Side)</a:t>
            </a:r>
          </a:p>
          <a:p>
            <a:pPr algn="ctr">
              <a:lnSpc>
                <a:spcPts val="1959"/>
              </a:lnSpc>
              <a:spcBef>
                <a:spcPct val="0"/>
              </a:spcBef>
            </a:pPr>
            <a:endParaRPr lang="en-US" sz="1399">
              <a:solidFill>
                <a:srgbClr val="000000"/>
              </a:solidFill>
              <a:latin typeface="Canva Sans"/>
              <a:ea typeface="Canva Sans"/>
              <a:cs typeface="Canva Sans"/>
              <a:sym typeface="Canva Sans"/>
            </a:endParaRPr>
          </a:p>
        </p:txBody>
      </p:sp>
      <p:sp>
        <p:nvSpPr>
          <p:cNvPr id="15" name="TextBox 15"/>
          <p:cNvSpPr txBox="1"/>
          <p:nvPr/>
        </p:nvSpPr>
        <p:spPr>
          <a:xfrm>
            <a:off x="331136" y="3508263"/>
            <a:ext cx="3024000" cy="75168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959"/>
              </a:lnSpc>
              <a:spcBef>
                <a:spcPct val="0"/>
              </a:spcBef>
            </a:pPr>
            <a:r>
              <a:rPr lang="en-US" sz="13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How many attacking corners led to a shot? (Left Side)</a:t>
            </a:r>
          </a:p>
          <a:p>
            <a:pPr algn="ctr">
              <a:lnSpc>
                <a:spcPts val="1959"/>
              </a:lnSpc>
              <a:spcBef>
                <a:spcPct val="0"/>
              </a:spcBef>
            </a:pPr>
            <a:endParaRPr lang="en-US" sz="1399">
              <a:solidFill>
                <a:srgbClr val="000000"/>
              </a:solidFill>
              <a:latin typeface="Canva Sans"/>
              <a:ea typeface="Canva Sans"/>
              <a:cs typeface="Canva Sans"/>
              <a:sym typeface="Canva Sans"/>
            </a:endParaRPr>
          </a:p>
        </p:txBody>
      </p:sp>
      <p:sp>
        <p:nvSpPr>
          <p:cNvPr id="16" name="TextBox 16"/>
          <p:cNvSpPr txBox="1"/>
          <p:nvPr/>
        </p:nvSpPr>
        <p:spPr>
          <a:xfrm>
            <a:off x="2043622" y="6231383"/>
            <a:ext cx="3512195" cy="32258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659"/>
              </a:lnSpc>
              <a:spcBef>
                <a:spcPct val="0"/>
              </a:spcBef>
            </a:pPr>
            <a:r>
              <a:rPr lang="en-US" sz="18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CORNER TAKERS (LEFT)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469072" y="215615"/>
            <a:ext cx="2633204" cy="5403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39"/>
              </a:lnSpc>
              <a:spcBef>
                <a:spcPct val="0"/>
              </a:spcBef>
            </a:pPr>
            <a:r>
              <a:rPr lang="en-US" sz="1599" b="1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Opponent analysis -</a:t>
            </a:r>
          </a:p>
          <a:p>
            <a:pPr algn="l">
              <a:lnSpc>
                <a:spcPts val="2239"/>
              </a:lnSpc>
              <a:spcBef>
                <a:spcPct val="0"/>
              </a:spcBef>
            </a:pPr>
            <a:r>
              <a:rPr lang="en-US" sz="1599" b="1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Corners {TEAM_NAME}</a:t>
            </a:r>
          </a:p>
        </p:txBody>
      </p:sp>
      <p:grpSp>
        <p:nvGrpSpPr>
          <p:cNvPr id="27" name="Group 27"/>
          <p:cNvGrpSpPr/>
          <p:nvPr/>
        </p:nvGrpSpPr>
        <p:grpSpPr>
          <a:xfrm>
            <a:off x="0" y="10452227"/>
            <a:ext cx="7560000" cy="278668"/>
            <a:chOff x="0" y="0"/>
            <a:chExt cx="2709333" cy="99868"/>
          </a:xfrm>
        </p:grpSpPr>
        <p:sp>
          <p:nvSpPr>
            <p:cNvPr id="28" name="Freeform 28"/>
            <p:cNvSpPr/>
            <p:nvPr/>
          </p:nvSpPr>
          <p:spPr>
            <a:xfrm>
              <a:off x="0" y="0"/>
              <a:ext cx="2709333" cy="99868"/>
            </a:xfrm>
            <a:custGeom>
              <a:avLst/>
              <a:gdLst/>
              <a:ahLst/>
              <a:cxnLst/>
              <a:rect l="l" t="t" r="r" b="b"/>
              <a:pathLst>
                <a:path w="2709333" h="99868">
                  <a:moveTo>
                    <a:pt x="0" y="0"/>
                  </a:moveTo>
                  <a:lnTo>
                    <a:pt x="2709333" y="0"/>
                  </a:lnTo>
                  <a:lnTo>
                    <a:pt x="2709333" y="99868"/>
                  </a:lnTo>
                  <a:lnTo>
                    <a:pt x="0" y="99868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LID4096"/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0" y="-9525"/>
              <a:ext cx="2709333" cy="10939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464"/>
                </a:lnSpc>
              </a:pPr>
              <a:r>
                <a:rPr lang="en-US" sz="1045">
                  <a:solidFill>
                    <a:srgbClr val="FFFFFF"/>
                  </a:solidFill>
                  <a:latin typeface="Canva Sans"/>
                  <a:ea typeface="Canva Sans"/>
                  <a:cs typeface="Canva Sans"/>
                  <a:sym typeface="Canva Sans"/>
                </a:rPr>
                <a:t>{bottom_bar}</a:t>
              </a:r>
            </a:p>
          </p:txBody>
        </p:sp>
      </p:grpSp>
      <p:sp>
        <p:nvSpPr>
          <p:cNvPr id="39" name="Rectangle 2">
            <a:extLst>
              <a:ext uri="{FF2B5EF4-FFF2-40B4-BE49-F238E27FC236}">
                <a16:creationId xmlns:a16="http://schemas.microsoft.com/office/drawing/2014/main" id="{E7F01EEB-97CC-9775-A811-6DEEE1E505A0}"/>
              </a:ext>
            </a:extLst>
          </p:cNvPr>
          <p:cNvSpPr/>
          <p:nvPr/>
        </p:nvSpPr>
        <p:spPr>
          <a:xfrm>
            <a:off x="3856004" y="1749082"/>
            <a:ext cx="3359965" cy="1596141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ffectLst>
            <a:outerShdw blurRad="50800" dist="127920" dir="3116579" rotWithShape="0">
              <a:srgbClr val="000000">
                <a:alpha val="48426"/>
              </a:srgbClr>
            </a:outerShdw>
          </a:effectLst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5DF0850D-76D9-599D-EDA4-9053CD996508}"/>
              </a:ext>
            </a:extLst>
          </p:cNvPr>
          <p:cNvSpPr/>
          <p:nvPr/>
        </p:nvSpPr>
        <p:spPr>
          <a:xfrm>
            <a:off x="3869286" y="1730309"/>
            <a:ext cx="3366347" cy="1600200"/>
          </a:xfrm>
          <a:prstGeom prst="rect">
            <a:avLst/>
          </a:prstGeom>
          <a:noFill/>
          <a:ln>
            <a:solidFill>
              <a:schemeClr val="tx2">
                <a:lumMod val="50000"/>
              </a:schemeClr>
            </a:solidFill>
          </a:ln>
          <a:effectLst>
            <a:glow rad="63500">
              <a:schemeClr val="tx2">
                <a:lumMod val="50000"/>
                <a:alpha val="40000"/>
              </a:schemeClr>
            </a:glow>
            <a:outerShdw blurRad="152400" dist="317500" dir="5400000" sx="90000" sy="-19000" rotWithShape="0">
              <a:prstClr val="black">
                <a:alpha val="15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nl-NL" sz="1800" b="0" i="0" u="none" strike="noStrike" cap="none" spc="0" normalizeH="0" baseline="0">
                <a:ln>
                  <a:solidFill>
                    <a:schemeClr val="tx1"/>
                  </a:solidFill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Aptos"/>
              </a:rPr>
              <a:t>{Corners_right_positions_vs}</a:t>
            </a: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LID4096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</p:txBody>
      </p:sp>
      <p:sp>
        <p:nvSpPr>
          <p:cNvPr id="40" name="Rectangle 2">
            <a:extLst>
              <a:ext uri="{FF2B5EF4-FFF2-40B4-BE49-F238E27FC236}">
                <a16:creationId xmlns:a16="http://schemas.microsoft.com/office/drawing/2014/main" id="{16747AFE-35E2-310B-1856-BBE326915D49}"/>
              </a:ext>
            </a:extLst>
          </p:cNvPr>
          <p:cNvSpPr/>
          <p:nvPr/>
        </p:nvSpPr>
        <p:spPr>
          <a:xfrm>
            <a:off x="334265" y="1736406"/>
            <a:ext cx="3359965" cy="1596141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ffectLst>
            <a:outerShdw blurRad="50800" dist="127920" dir="3116579" rotWithShape="0">
              <a:srgbClr val="000000">
                <a:alpha val="48426"/>
              </a:srgbClr>
            </a:outerShdw>
          </a:effectLst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FBC95EC2-B3A4-B383-FFC1-30F5BC6596F0}"/>
              </a:ext>
            </a:extLst>
          </p:cNvPr>
          <p:cNvSpPr/>
          <p:nvPr/>
        </p:nvSpPr>
        <p:spPr>
          <a:xfrm>
            <a:off x="342832" y="1730309"/>
            <a:ext cx="3366347" cy="1600200"/>
          </a:xfrm>
          <a:prstGeom prst="rect">
            <a:avLst/>
          </a:prstGeom>
          <a:noFill/>
          <a:ln>
            <a:solidFill>
              <a:schemeClr val="tx2">
                <a:lumMod val="50000"/>
              </a:schemeClr>
            </a:solidFill>
          </a:ln>
          <a:effectLst>
            <a:glow rad="63500">
              <a:schemeClr val="tx2">
                <a:lumMod val="50000"/>
                <a:alpha val="40000"/>
              </a:schemeClr>
            </a:glow>
            <a:outerShdw blurRad="152400" dist="317500" dir="5400000" sx="90000" sy="-19000" rotWithShape="0">
              <a:prstClr val="black">
                <a:alpha val="15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nl-NL">
                <a:ln>
                  <a:solidFill>
                    <a:schemeClr val="tx1"/>
                  </a:solidFill>
                </a:ln>
              </a:rPr>
              <a:t>{Corners_left_positions_vis}</a:t>
            </a: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LID4096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</p:txBody>
      </p:sp>
      <p:sp>
        <p:nvSpPr>
          <p:cNvPr id="42" name="Rectangle 2">
            <a:extLst>
              <a:ext uri="{FF2B5EF4-FFF2-40B4-BE49-F238E27FC236}">
                <a16:creationId xmlns:a16="http://schemas.microsoft.com/office/drawing/2014/main" id="{E1F355EE-8B1A-DBAC-820B-E2C1ED8C0DB4}"/>
              </a:ext>
            </a:extLst>
          </p:cNvPr>
          <p:cNvSpPr/>
          <p:nvPr/>
        </p:nvSpPr>
        <p:spPr>
          <a:xfrm>
            <a:off x="3862645" y="4328621"/>
            <a:ext cx="3359965" cy="1596141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ffectLst>
            <a:outerShdw blurRad="50800" dist="127920" dir="3116579" rotWithShape="0">
              <a:srgbClr val="000000">
                <a:alpha val="48426"/>
              </a:srgbClr>
            </a:outerShdw>
          </a:effectLst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D2853733-1D34-A559-2BA0-73B5B1A115B9}"/>
              </a:ext>
            </a:extLst>
          </p:cNvPr>
          <p:cNvSpPr/>
          <p:nvPr/>
        </p:nvSpPr>
        <p:spPr>
          <a:xfrm>
            <a:off x="3869286" y="4310884"/>
            <a:ext cx="3366347" cy="1600200"/>
          </a:xfrm>
          <a:prstGeom prst="rect">
            <a:avLst/>
          </a:prstGeom>
          <a:noFill/>
          <a:ln>
            <a:solidFill>
              <a:schemeClr val="tx2">
                <a:lumMod val="50000"/>
              </a:schemeClr>
            </a:solidFill>
          </a:ln>
          <a:effectLst>
            <a:glow rad="63500">
              <a:schemeClr val="tx2">
                <a:lumMod val="50000"/>
                <a:alpha val="40000"/>
              </a:schemeClr>
            </a:glow>
            <a:outerShdw blurRad="152400" dist="317500" dir="5400000" sx="90000" sy="-19000" rotWithShape="0">
              <a:prstClr val="black">
                <a:alpha val="15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nl-NL" sz="1800" b="0" i="0" u="none" strike="noStrike" cap="none" spc="0" normalizeH="0" baseline="0">
                <a:ln>
                  <a:solidFill>
                    <a:schemeClr val="tx1"/>
                  </a:solidFill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Aptos"/>
              </a:rPr>
              <a:t>{Corners_right_shots_vs}</a:t>
            </a: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LID4096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</p:txBody>
      </p:sp>
      <p:sp>
        <p:nvSpPr>
          <p:cNvPr id="44" name="Rectangle 2">
            <a:extLst>
              <a:ext uri="{FF2B5EF4-FFF2-40B4-BE49-F238E27FC236}">
                <a16:creationId xmlns:a16="http://schemas.microsoft.com/office/drawing/2014/main" id="{4AE83471-1501-87B4-685E-9BD66B50C9AF}"/>
              </a:ext>
            </a:extLst>
          </p:cNvPr>
          <p:cNvSpPr/>
          <p:nvPr/>
        </p:nvSpPr>
        <p:spPr>
          <a:xfrm>
            <a:off x="340906" y="4315945"/>
            <a:ext cx="3359965" cy="1596141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ffectLst>
            <a:outerShdw blurRad="50800" dist="127920" dir="3116579" rotWithShape="0">
              <a:srgbClr val="000000">
                <a:alpha val="48426"/>
              </a:srgbClr>
            </a:outerShdw>
          </a:effectLst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00EFB0B4-4FA4-0A2E-CA34-C4BB1CE8FF95}"/>
              </a:ext>
            </a:extLst>
          </p:cNvPr>
          <p:cNvSpPr/>
          <p:nvPr/>
        </p:nvSpPr>
        <p:spPr>
          <a:xfrm>
            <a:off x="334524" y="4306856"/>
            <a:ext cx="3366347" cy="1600200"/>
          </a:xfrm>
          <a:prstGeom prst="rect">
            <a:avLst/>
          </a:prstGeom>
          <a:noFill/>
          <a:ln>
            <a:solidFill>
              <a:schemeClr val="tx2">
                <a:lumMod val="50000"/>
              </a:schemeClr>
            </a:solidFill>
          </a:ln>
          <a:effectLst>
            <a:glow rad="63500">
              <a:schemeClr val="tx2">
                <a:lumMod val="50000"/>
                <a:alpha val="40000"/>
              </a:schemeClr>
            </a:glow>
            <a:outerShdw blurRad="152400" dist="317500" dir="5400000" sx="90000" sy="-19000" rotWithShape="0">
              <a:prstClr val="black">
                <a:alpha val="15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nl-NL">
                <a:ln>
                  <a:solidFill>
                    <a:schemeClr val="tx1"/>
                  </a:solidFill>
                </a:ln>
              </a:rPr>
              <a:t>{Corners_left_shots_vis}</a:t>
            </a: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LID4096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</p:txBody>
      </p:sp>
      <p:sp>
        <p:nvSpPr>
          <p:cNvPr id="46" name="Rectangle 2">
            <a:extLst>
              <a:ext uri="{FF2B5EF4-FFF2-40B4-BE49-F238E27FC236}">
                <a16:creationId xmlns:a16="http://schemas.microsoft.com/office/drawing/2014/main" id="{042AFD61-EC88-E083-B7FD-077092F2CA0D}"/>
              </a:ext>
            </a:extLst>
          </p:cNvPr>
          <p:cNvSpPr/>
          <p:nvPr/>
        </p:nvSpPr>
        <p:spPr>
          <a:xfrm>
            <a:off x="6259401" y="64768"/>
            <a:ext cx="953389" cy="805375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ffectLst>
            <a:outerShdw blurRad="50800" dist="127920" dir="3116579" rotWithShape="0">
              <a:srgbClr val="000000">
                <a:alpha val="48426"/>
              </a:srgbClr>
            </a:outerShdw>
          </a:effectLst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B5B825E9-6C3A-7263-77C9-9EF749ED6FC7}"/>
              </a:ext>
            </a:extLst>
          </p:cNvPr>
          <p:cNvSpPr/>
          <p:nvPr/>
        </p:nvSpPr>
        <p:spPr>
          <a:xfrm>
            <a:off x="6259401" y="64786"/>
            <a:ext cx="953388" cy="804672"/>
          </a:xfrm>
          <a:prstGeom prst="rect">
            <a:avLst/>
          </a:prstGeom>
          <a:noFill/>
          <a:ln>
            <a:solidFill>
              <a:schemeClr val="tx2">
                <a:lumMod val="50000"/>
              </a:schemeClr>
            </a:solidFill>
          </a:ln>
          <a:effectLst>
            <a:glow rad="63500">
              <a:schemeClr val="tx2">
                <a:lumMod val="50000"/>
                <a:alpha val="40000"/>
              </a:schemeClr>
            </a:glow>
            <a:outerShdw blurRad="152400" dist="317500" dir="5400000" sx="90000" sy="-19000" rotWithShape="0">
              <a:prstClr val="black">
                <a:alpha val="15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nl-NL" sz="1800" b="0" i="0" u="none" strike="noStrike" cap="none" spc="0" normalizeH="0" baseline="0">
                <a:ln>
                  <a:solidFill>
                    <a:schemeClr val="tx1"/>
                  </a:solidFill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Aptos"/>
              </a:rPr>
              <a:t>{LOGO</a:t>
            </a: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LID4096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DE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442483" y="4646651"/>
            <a:ext cx="3367368" cy="12933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679"/>
              </a:lnSpc>
              <a:spcBef>
                <a:spcPct val="0"/>
              </a:spcBef>
            </a:pPr>
            <a:r>
              <a:rPr lang="en-US" sz="1200" b="1" spc="-6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Def. Corners Left: how many crosses turned into a shot?</a:t>
            </a:r>
            <a:r>
              <a:rPr lang="en-US" sz="1200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 {def_Corners_left_shots_vis}</a:t>
            </a:r>
          </a:p>
          <a:p>
            <a:pPr algn="ctr">
              <a:lnSpc>
                <a:spcPts val="1679"/>
              </a:lnSpc>
              <a:spcBef>
                <a:spcPct val="0"/>
              </a:spcBef>
            </a:pPr>
            <a:endParaRPr lang="en-US" sz="1200" b="1" spc="-6">
              <a:solidFill>
                <a:srgbClr val="000000"/>
              </a:solidFill>
              <a:latin typeface="Canva Sans Bold"/>
              <a:ea typeface="Canva Sans Bold"/>
              <a:cs typeface="Canva Sans Bold"/>
              <a:sym typeface="Canva Sans Bold"/>
            </a:endParaRPr>
          </a:p>
          <a:p>
            <a:pPr algn="ctr">
              <a:lnSpc>
                <a:spcPts val="1679"/>
              </a:lnSpc>
              <a:spcBef>
                <a:spcPct val="0"/>
              </a:spcBef>
            </a:pPr>
            <a:endParaRPr lang="en-US" sz="1200" b="1" spc="-6">
              <a:solidFill>
                <a:srgbClr val="000000"/>
              </a:solidFill>
              <a:latin typeface="Canva Sans Bold"/>
              <a:ea typeface="Canva Sans Bold"/>
              <a:cs typeface="Canva Sans Bold"/>
              <a:sym typeface="Canva Sans Bold"/>
            </a:endParaRPr>
          </a:p>
          <a:p>
            <a:pPr algn="ctr">
              <a:lnSpc>
                <a:spcPts val="1679"/>
              </a:lnSpc>
              <a:spcBef>
                <a:spcPct val="0"/>
              </a:spcBef>
            </a:pPr>
            <a:endParaRPr lang="en-US" sz="1200" b="1" spc="-6">
              <a:solidFill>
                <a:srgbClr val="000000"/>
              </a:solidFill>
              <a:latin typeface="Canva Sans Bold"/>
              <a:ea typeface="Canva Sans Bold"/>
              <a:cs typeface="Canva Sans Bold"/>
              <a:sym typeface="Canva Sans Bold"/>
            </a:endParaRPr>
          </a:p>
          <a:p>
            <a:pPr algn="ctr">
              <a:lnSpc>
                <a:spcPts val="1679"/>
              </a:lnSpc>
              <a:spcBef>
                <a:spcPct val="0"/>
              </a:spcBef>
            </a:pPr>
            <a:endParaRPr lang="en-US" sz="1200" b="1" spc="-6">
              <a:solidFill>
                <a:srgbClr val="000000"/>
              </a:solidFill>
              <a:latin typeface="Canva Sans Bold"/>
              <a:ea typeface="Canva Sans Bold"/>
              <a:cs typeface="Canva Sans Bold"/>
              <a:sym typeface="Canva Sans Bold"/>
            </a:endParaRPr>
          </a:p>
        </p:txBody>
      </p:sp>
      <p:sp>
        <p:nvSpPr>
          <p:cNvPr id="3" name="TextBox 3"/>
          <p:cNvSpPr txBox="1"/>
          <p:nvPr/>
        </p:nvSpPr>
        <p:spPr>
          <a:xfrm>
            <a:off x="3954058" y="4646651"/>
            <a:ext cx="3342848" cy="6172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679"/>
              </a:lnSpc>
              <a:spcBef>
                <a:spcPct val="0"/>
              </a:spcBef>
            </a:pPr>
            <a:r>
              <a:rPr lang="en-US" sz="1200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Def. Corners Right: how many crosses turned into a shot?</a:t>
            </a:r>
          </a:p>
          <a:p>
            <a:pPr algn="ctr">
              <a:lnSpc>
                <a:spcPts val="1679"/>
              </a:lnSpc>
              <a:spcBef>
                <a:spcPct val="0"/>
              </a:spcBef>
            </a:pPr>
            <a:endParaRPr lang="en-US" sz="1200" b="1">
              <a:solidFill>
                <a:srgbClr val="000000"/>
              </a:solidFill>
              <a:latin typeface="Canva Sans Bold"/>
              <a:ea typeface="Canva Sans Bold"/>
              <a:cs typeface="Canva Sans Bold"/>
              <a:sym typeface="Canva Sans Bold"/>
            </a:endParaRPr>
          </a:p>
        </p:txBody>
      </p:sp>
      <p:grpSp>
        <p:nvGrpSpPr>
          <p:cNvPr id="4" name="Group 4"/>
          <p:cNvGrpSpPr/>
          <p:nvPr/>
        </p:nvGrpSpPr>
        <p:grpSpPr>
          <a:xfrm>
            <a:off x="0" y="0"/>
            <a:ext cx="7560000" cy="921128"/>
            <a:chOff x="0" y="0"/>
            <a:chExt cx="2709333" cy="330111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709333" cy="330111"/>
            </a:xfrm>
            <a:custGeom>
              <a:avLst/>
              <a:gdLst/>
              <a:ahLst/>
              <a:cxnLst/>
              <a:rect l="l" t="t" r="r" b="b"/>
              <a:pathLst>
                <a:path w="2709333" h="330111">
                  <a:moveTo>
                    <a:pt x="0" y="0"/>
                  </a:moveTo>
                  <a:lnTo>
                    <a:pt x="2709333" y="0"/>
                  </a:lnTo>
                  <a:lnTo>
                    <a:pt x="2709333" y="330111"/>
                  </a:lnTo>
                  <a:lnTo>
                    <a:pt x="0" y="330111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LID4096"/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0" y="-28575"/>
              <a:ext cx="2709333" cy="35868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584"/>
                </a:lnSpc>
              </a:pPr>
              <a:endParaRPr/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0" y="10452227"/>
            <a:ext cx="7560000" cy="278668"/>
            <a:chOff x="0" y="0"/>
            <a:chExt cx="2709333" cy="99868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2709333" cy="99868"/>
            </a:xfrm>
            <a:custGeom>
              <a:avLst/>
              <a:gdLst/>
              <a:ahLst/>
              <a:cxnLst/>
              <a:rect l="l" t="t" r="r" b="b"/>
              <a:pathLst>
                <a:path w="2709333" h="99868">
                  <a:moveTo>
                    <a:pt x="0" y="0"/>
                  </a:moveTo>
                  <a:lnTo>
                    <a:pt x="2709333" y="0"/>
                  </a:lnTo>
                  <a:lnTo>
                    <a:pt x="2709333" y="99868"/>
                  </a:lnTo>
                  <a:lnTo>
                    <a:pt x="0" y="99868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LID4096"/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0" y="-9525"/>
              <a:ext cx="2709333" cy="10939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464"/>
                </a:lnSpc>
              </a:pPr>
              <a:endParaRPr lang="en-US" sz="1045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endParaRPr>
            </a:p>
          </p:txBody>
        </p:sp>
      </p:grpSp>
      <p:graphicFrame>
        <p:nvGraphicFramePr>
          <p:cNvPr id="10" name="Table 1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34835734"/>
              </p:ext>
            </p:extLst>
          </p:nvPr>
        </p:nvGraphicFramePr>
        <p:xfrm>
          <a:off x="442483" y="1901132"/>
          <a:ext cx="6575635" cy="2174675"/>
        </p:xfrm>
        <a:graphic>
          <a:graphicData uri="http://schemas.openxmlformats.org/drawingml/2006/table">
            <a:tbl>
              <a:tblPr/>
              <a:tblGrid>
                <a:gridCol w="184860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609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5080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9913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1618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Player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272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Corners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272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Cross Succ. %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272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1st choice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272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2nd choice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272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9961"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{best_taker_r}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{n_c_r1}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{cs_r1}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{1stc_r1}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{2ndc_r1}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99569"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{second_best_taker_r}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{n_c_r2}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{cs_r2}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{1stc_r2}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{2ndc_r2}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8651"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{third_best_taker_r}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{n_c_r3}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{cs_r3}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{1stc_r3}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{2ndc_r3}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0" name="TextBox 20"/>
          <p:cNvSpPr txBox="1"/>
          <p:nvPr/>
        </p:nvSpPr>
        <p:spPr>
          <a:xfrm>
            <a:off x="1612169" y="1376469"/>
            <a:ext cx="4332162" cy="32258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659"/>
              </a:lnSpc>
              <a:spcBef>
                <a:spcPct val="0"/>
              </a:spcBef>
            </a:pPr>
            <a:r>
              <a:rPr lang="en-US" sz="1899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CORNER TAKERS (RIGHT)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29859" y="7121469"/>
            <a:ext cx="4072745" cy="20326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679"/>
              </a:lnSpc>
              <a:spcBef>
                <a:spcPct val="0"/>
              </a:spcBef>
            </a:pPr>
            <a:r>
              <a:rPr lang="en-US" sz="1200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Attacking corners: Headers &amp; Header goals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3809851" y="7121469"/>
            <a:ext cx="3602340" cy="20326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679"/>
              </a:lnSpc>
              <a:spcBef>
                <a:spcPct val="0"/>
              </a:spcBef>
            </a:pPr>
            <a:r>
              <a:rPr lang="en-US" sz="1200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Defending corners: Headers &amp; Header goals</a:t>
            </a:r>
          </a:p>
        </p:txBody>
      </p:sp>
      <p:grpSp>
        <p:nvGrpSpPr>
          <p:cNvPr id="26" name="Group 26"/>
          <p:cNvGrpSpPr/>
          <p:nvPr/>
        </p:nvGrpSpPr>
        <p:grpSpPr>
          <a:xfrm>
            <a:off x="6429382" y="131669"/>
            <a:ext cx="749236" cy="707542"/>
            <a:chOff x="0" y="0"/>
            <a:chExt cx="268509" cy="253567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268509" cy="253567"/>
            </a:xfrm>
            <a:custGeom>
              <a:avLst/>
              <a:gdLst/>
              <a:ahLst/>
              <a:cxnLst/>
              <a:rect l="l" t="t" r="r" b="b"/>
              <a:pathLst>
                <a:path w="268509" h="253567">
                  <a:moveTo>
                    <a:pt x="0" y="0"/>
                  </a:moveTo>
                  <a:lnTo>
                    <a:pt x="268509" y="0"/>
                  </a:lnTo>
                  <a:lnTo>
                    <a:pt x="268509" y="253567"/>
                  </a:lnTo>
                  <a:lnTo>
                    <a:pt x="0" y="253567"/>
                  </a:lnTo>
                  <a:close/>
                </a:path>
              </a:pathLst>
            </a:custGeom>
            <a:solidFill>
              <a:srgbClr val="D78484"/>
            </a:solidFill>
          </p:spPr>
          <p:txBody>
            <a:bodyPr/>
            <a:lstStyle/>
            <a:p>
              <a:endParaRPr lang="LID4096"/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0" y="-19050"/>
              <a:ext cx="268509" cy="27261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679"/>
                </a:lnSpc>
              </a:pPr>
              <a:r>
                <a:rPr lang="en-US" sz="1200" b="1">
                  <a:solidFill>
                    <a:srgbClr val="000000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{LOGO}</a:t>
              </a:r>
            </a:p>
          </p:txBody>
        </p:sp>
      </p:grpSp>
      <p:sp>
        <p:nvSpPr>
          <p:cNvPr id="29" name="TextBox 29"/>
          <p:cNvSpPr txBox="1"/>
          <p:nvPr/>
        </p:nvSpPr>
        <p:spPr>
          <a:xfrm>
            <a:off x="469072" y="215615"/>
            <a:ext cx="2633204" cy="5403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39"/>
              </a:lnSpc>
              <a:spcBef>
                <a:spcPct val="0"/>
              </a:spcBef>
            </a:pPr>
            <a:r>
              <a:rPr lang="en-US" sz="1599" b="1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Opponent analysis -</a:t>
            </a:r>
          </a:p>
          <a:p>
            <a:pPr algn="l">
              <a:lnSpc>
                <a:spcPts val="2239"/>
              </a:lnSpc>
              <a:spcBef>
                <a:spcPct val="0"/>
              </a:spcBef>
            </a:pPr>
            <a:r>
              <a:rPr lang="en-US" sz="1599" b="1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Corners {TEAM_NAME}</a:t>
            </a:r>
          </a:p>
        </p:txBody>
      </p:sp>
      <p:sp>
        <p:nvSpPr>
          <p:cNvPr id="34" name="Rectangle 2">
            <a:extLst>
              <a:ext uri="{FF2B5EF4-FFF2-40B4-BE49-F238E27FC236}">
                <a16:creationId xmlns:a16="http://schemas.microsoft.com/office/drawing/2014/main" id="{30C141DD-440A-D8AB-B4FF-A82C5F89309E}"/>
              </a:ext>
            </a:extLst>
          </p:cNvPr>
          <p:cNvSpPr/>
          <p:nvPr/>
        </p:nvSpPr>
        <p:spPr>
          <a:xfrm>
            <a:off x="3918936" y="5317027"/>
            <a:ext cx="3359965" cy="1596141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ffectLst>
            <a:outerShdw blurRad="50800" dist="127920" dir="3116579" rotWithShape="0">
              <a:srgbClr val="000000">
                <a:alpha val="48426"/>
              </a:srgbClr>
            </a:outerShdw>
          </a:effectLst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01FA4B6F-FE8E-8F68-3B8E-0F17889CDCFA}"/>
              </a:ext>
            </a:extLst>
          </p:cNvPr>
          <p:cNvSpPr/>
          <p:nvPr/>
        </p:nvSpPr>
        <p:spPr>
          <a:xfrm>
            <a:off x="3918936" y="5317027"/>
            <a:ext cx="3366347" cy="1600200"/>
          </a:xfrm>
          <a:prstGeom prst="rect">
            <a:avLst/>
          </a:prstGeom>
          <a:noFill/>
          <a:ln>
            <a:solidFill>
              <a:schemeClr val="tx2">
                <a:lumMod val="50000"/>
              </a:schemeClr>
            </a:solidFill>
          </a:ln>
          <a:effectLst>
            <a:glow rad="63500">
              <a:schemeClr val="tx2">
                <a:lumMod val="50000"/>
                <a:alpha val="40000"/>
              </a:schemeClr>
            </a:glow>
            <a:outerShdw blurRad="152400" dist="317500" dir="5400000" sx="90000" sy="-19000" rotWithShape="0">
              <a:prstClr val="black">
                <a:alpha val="15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800" b="0" i="0" u="none" strike="noStrike" cap="none" spc="0" normalizeH="0" baseline="0">
                <a:ln>
                  <a:solidFill>
                    <a:schemeClr val="tx1"/>
                  </a:solidFill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Aptos"/>
              </a:rPr>
              <a:t>{def_Corners_left_shots_vis}</a:t>
            </a: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LID4096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</p:txBody>
      </p:sp>
      <p:sp>
        <p:nvSpPr>
          <p:cNvPr id="36" name="Rectangle 2">
            <a:extLst>
              <a:ext uri="{FF2B5EF4-FFF2-40B4-BE49-F238E27FC236}">
                <a16:creationId xmlns:a16="http://schemas.microsoft.com/office/drawing/2014/main" id="{A5907B32-F324-C514-AA6A-CAF285702F51}"/>
              </a:ext>
            </a:extLst>
          </p:cNvPr>
          <p:cNvSpPr/>
          <p:nvPr/>
        </p:nvSpPr>
        <p:spPr>
          <a:xfrm>
            <a:off x="397197" y="5304351"/>
            <a:ext cx="3359965" cy="1596141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ffectLst>
            <a:outerShdw blurRad="50800" dist="127920" dir="3116579" rotWithShape="0">
              <a:srgbClr val="000000">
                <a:alpha val="48426"/>
              </a:srgbClr>
            </a:outerShdw>
          </a:effectLst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3AAF7B1A-25C4-8431-1FAC-8FF57566D154}"/>
              </a:ext>
            </a:extLst>
          </p:cNvPr>
          <p:cNvSpPr/>
          <p:nvPr/>
        </p:nvSpPr>
        <p:spPr>
          <a:xfrm>
            <a:off x="383057" y="5310677"/>
            <a:ext cx="3366347" cy="1600200"/>
          </a:xfrm>
          <a:prstGeom prst="rect">
            <a:avLst/>
          </a:prstGeom>
          <a:noFill/>
          <a:ln>
            <a:solidFill>
              <a:schemeClr val="tx2">
                <a:lumMod val="50000"/>
              </a:schemeClr>
            </a:solidFill>
          </a:ln>
          <a:effectLst>
            <a:glow rad="63500">
              <a:schemeClr val="tx2">
                <a:lumMod val="50000"/>
                <a:alpha val="40000"/>
              </a:schemeClr>
            </a:glow>
            <a:outerShdw blurRad="152400" dist="317500" dir="5400000" sx="90000" sy="-19000" rotWithShape="0">
              <a:prstClr val="black">
                <a:alpha val="15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>
                <a:ln>
                  <a:solidFill>
                    <a:schemeClr val="tx1"/>
                  </a:solidFill>
                </a:ln>
              </a:rPr>
              <a:t>{def_Corners_left_shots_vis}</a:t>
            </a: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LID4096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</p:txBody>
      </p:sp>
      <p:sp>
        <p:nvSpPr>
          <p:cNvPr id="40" name="Rectangle 2">
            <a:extLst>
              <a:ext uri="{FF2B5EF4-FFF2-40B4-BE49-F238E27FC236}">
                <a16:creationId xmlns:a16="http://schemas.microsoft.com/office/drawing/2014/main" id="{61700699-F50E-00E1-D48A-3108A8DCE342}"/>
              </a:ext>
            </a:extLst>
          </p:cNvPr>
          <p:cNvSpPr/>
          <p:nvPr/>
        </p:nvSpPr>
        <p:spPr>
          <a:xfrm>
            <a:off x="3918936" y="7586187"/>
            <a:ext cx="3359965" cy="2554617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ffectLst>
            <a:outerShdw blurRad="50800" dist="127920" dir="3116579" rotWithShape="0">
              <a:srgbClr val="000000">
                <a:alpha val="48426"/>
              </a:srgbClr>
            </a:outerShdw>
          </a:effectLst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4C1D049D-DD3A-11AD-0C55-ED2CF94DABA8}"/>
              </a:ext>
            </a:extLst>
          </p:cNvPr>
          <p:cNvSpPr/>
          <p:nvPr/>
        </p:nvSpPr>
        <p:spPr>
          <a:xfrm>
            <a:off x="3918936" y="7586187"/>
            <a:ext cx="3366347" cy="2551176"/>
          </a:xfrm>
          <a:prstGeom prst="rect">
            <a:avLst/>
          </a:prstGeom>
          <a:noFill/>
          <a:ln>
            <a:solidFill>
              <a:schemeClr val="tx2">
                <a:lumMod val="50000"/>
              </a:schemeClr>
            </a:solidFill>
          </a:ln>
          <a:effectLst>
            <a:glow rad="63500">
              <a:schemeClr val="tx2">
                <a:lumMod val="50000"/>
                <a:alpha val="40000"/>
              </a:schemeClr>
            </a:glow>
            <a:outerShdw blurRad="152400" dist="317500" dir="5400000" sx="90000" sy="-19000" rotWithShape="0">
              <a:prstClr val="black">
                <a:alpha val="15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800" b="0" i="0" u="none" strike="noStrike" cap="none" spc="0" normalizeH="0" baseline="0">
                <a:ln>
                  <a:solidFill>
                    <a:schemeClr val="tx1"/>
                  </a:solidFill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Aptos"/>
              </a:rPr>
              <a:t>Def_corners_headers}</a:t>
            </a: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LID4096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</p:txBody>
      </p:sp>
      <p:sp>
        <p:nvSpPr>
          <p:cNvPr id="42" name="Rectangle 2">
            <a:extLst>
              <a:ext uri="{FF2B5EF4-FFF2-40B4-BE49-F238E27FC236}">
                <a16:creationId xmlns:a16="http://schemas.microsoft.com/office/drawing/2014/main" id="{5AC47DA8-FF5A-B403-88F5-413985D326B3}"/>
              </a:ext>
            </a:extLst>
          </p:cNvPr>
          <p:cNvSpPr/>
          <p:nvPr/>
        </p:nvSpPr>
        <p:spPr>
          <a:xfrm>
            <a:off x="397197" y="7573511"/>
            <a:ext cx="3359965" cy="2554617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ffectLst>
            <a:outerShdw blurRad="50800" dist="127920" dir="3116579" rotWithShape="0">
              <a:srgbClr val="000000">
                <a:alpha val="48426"/>
              </a:srgbClr>
            </a:outerShdw>
          </a:effectLst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6C3C3B89-9935-1CA0-42FB-DD11839A7A86}"/>
              </a:ext>
            </a:extLst>
          </p:cNvPr>
          <p:cNvSpPr/>
          <p:nvPr/>
        </p:nvSpPr>
        <p:spPr>
          <a:xfrm>
            <a:off x="383057" y="7576952"/>
            <a:ext cx="3366347" cy="2551176"/>
          </a:xfrm>
          <a:prstGeom prst="rect">
            <a:avLst/>
          </a:prstGeom>
          <a:noFill/>
          <a:ln>
            <a:solidFill>
              <a:schemeClr val="tx2">
                <a:lumMod val="50000"/>
              </a:schemeClr>
            </a:solidFill>
          </a:ln>
          <a:effectLst>
            <a:glow rad="63500">
              <a:schemeClr val="tx2">
                <a:lumMod val="50000"/>
                <a:alpha val="40000"/>
              </a:schemeClr>
            </a:glow>
            <a:outerShdw blurRad="152400" dist="317500" dir="5400000" sx="90000" sy="-19000" rotWithShape="0">
              <a:prstClr val="black">
                <a:alpha val="15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>
                <a:ln>
                  <a:solidFill>
                    <a:schemeClr val="tx1"/>
                  </a:solidFill>
                </a:ln>
              </a:rPr>
              <a:t>{att_corners_headers}</a:t>
            </a: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LID4096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1404</TotalTime>
  <Words>406</Words>
  <Application>Microsoft Office PowerPoint</Application>
  <PresentationFormat>Custom</PresentationFormat>
  <Paragraphs>83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8" baseType="lpstr">
      <vt:lpstr>Canva Sans Bold</vt:lpstr>
      <vt:lpstr>Canva Sans</vt:lpstr>
      <vt:lpstr>Arial</vt:lpstr>
      <vt:lpstr>Arimo</vt:lpstr>
      <vt:lpstr>Calibri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Att. Corners Left (84 corners)</dc:title>
  <dc:creator>Kramer, Roeland</dc:creator>
  <cp:lastModifiedBy>roeland kramer</cp:lastModifiedBy>
  <cp:revision>5</cp:revision>
  <dcterms:created xsi:type="dcterms:W3CDTF">2006-08-16T00:00:00Z</dcterms:created>
  <dcterms:modified xsi:type="dcterms:W3CDTF">2026-02-25T12:33:03Z</dcterms:modified>
  <dc:identifier>DAHCOi_O9f0</dc:identifier>
</cp:coreProperties>
</file>