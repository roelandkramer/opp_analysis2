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556500" cy="10693400"/>
  <p:notesSz cx="6858000" cy="9144000"/>
  <p:embeddedFontLst>
    <p:embeddedFont>
      <p:font typeface="Arimo" panose="020B0604020202020204" charset="0"/>
      <p:regular r:id="rId4"/>
    </p:embeddedFont>
    <p:embeddedFont>
      <p:font typeface="Canva Sans" panose="020B0604020202020204" charset="0"/>
      <p:regular r:id="rId5"/>
    </p:embeddedFont>
    <p:embeddedFont>
      <p:font typeface="Canva Sans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3012" y="-4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24-Feb-26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560000" cy="921128"/>
            <a:chOff x="0" y="0"/>
            <a:chExt cx="2709333" cy="3301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330111"/>
            </a:xfrm>
            <a:custGeom>
              <a:avLst/>
              <a:gdLst/>
              <a:ahLst/>
              <a:cxnLst/>
              <a:rect l="l" t="t" r="r" b="b"/>
              <a:pathLst>
                <a:path w="2709333" h="330111">
                  <a:moveTo>
                    <a:pt x="0" y="0"/>
                  </a:moveTo>
                  <a:lnTo>
                    <a:pt x="2709333" y="0"/>
                  </a:lnTo>
                  <a:lnTo>
                    <a:pt x="2709333" y="330111"/>
                  </a:lnTo>
                  <a:lnTo>
                    <a:pt x="0" y="3301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709333" cy="358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4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469072" y="6784928"/>
          <a:ext cx="6575635" cy="2293200"/>
        </p:xfrm>
        <a:graphic>
          <a:graphicData uri="http://schemas.openxmlformats.org/drawingml/2006/table">
            <a:tbl>
              <a:tblPr/>
              <a:tblGrid>
                <a:gridCol w="1848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1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150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Player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2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Corners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2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Cross Succ. %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2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1st choice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2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2nd choice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27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44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{best_taker_l}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{n_c_l1}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{cs_l1}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{1stc_l1}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{2ndc_l1}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684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{second_best_taker_l}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{n_c_l2}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{cs_l2}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{1stc_l2}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{2ndc_l2}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522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{third_best_taker_l}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{n_c_l3}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{cs_l3}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{1stc_l3}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{2ndc_l3}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>
            <a:off x="6429382" y="131669"/>
            <a:ext cx="749236" cy="707542"/>
            <a:chOff x="0" y="0"/>
            <a:chExt cx="268509" cy="2535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8509" cy="253567"/>
            </a:xfrm>
            <a:custGeom>
              <a:avLst/>
              <a:gdLst/>
              <a:ahLst/>
              <a:cxnLst/>
              <a:rect l="l" t="t" r="r" b="b"/>
              <a:pathLst>
                <a:path w="268509" h="253567">
                  <a:moveTo>
                    <a:pt x="0" y="0"/>
                  </a:moveTo>
                  <a:lnTo>
                    <a:pt x="268509" y="0"/>
                  </a:lnTo>
                  <a:lnTo>
                    <a:pt x="268509" y="253567"/>
                  </a:lnTo>
                  <a:lnTo>
                    <a:pt x="0" y="253567"/>
                  </a:lnTo>
                  <a:close/>
                </a:path>
              </a:pathLst>
            </a:custGeom>
            <a:solidFill>
              <a:srgbClr val="D7848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68509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{LOGO}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9783" y="1777001"/>
            <a:ext cx="3409850" cy="1542985"/>
            <a:chOff x="0" y="0"/>
            <a:chExt cx="1222013" cy="5529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22013" cy="552971"/>
            </a:xfrm>
            <a:custGeom>
              <a:avLst/>
              <a:gdLst/>
              <a:ahLst/>
              <a:cxnLst/>
              <a:rect l="l" t="t" r="r" b="b"/>
              <a:pathLst>
                <a:path w="1222013" h="552971">
                  <a:moveTo>
                    <a:pt x="0" y="0"/>
                  </a:moveTo>
                  <a:lnTo>
                    <a:pt x="1222013" y="0"/>
                  </a:lnTo>
                  <a:lnTo>
                    <a:pt x="1222013" y="552971"/>
                  </a:lnTo>
                  <a:lnTo>
                    <a:pt x="0" y="552971"/>
                  </a:lnTo>
                  <a:close/>
                </a:path>
              </a:pathLst>
            </a:custGeom>
            <a:solidFill>
              <a:srgbClr val="D7848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222013" cy="572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{Corners_left_positions_vis}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5540" y="1254714"/>
            <a:ext cx="3299222" cy="59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4"/>
              </a:lnSpc>
              <a:spcBef>
                <a:spcPct val="0"/>
              </a:spcBef>
            </a:pPr>
            <a:r>
              <a:rPr lang="en-US" sz="17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Att. Corners Left ({nlc}corners)</a:t>
            </a:r>
          </a:p>
          <a:p>
            <a:pPr algn="ctr">
              <a:lnSpc>
                <a:spcPts val="2444"/>
              </a:lnSpc>
              <a:spcBef>
                <a:spcPct val="0"/>
              </a:spcBef>
            </a:pPr>
            <a:endParaRPr lang="en-US" sz="174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799720" y="1254714"/>
            <a:ext cx="3512195" cy="28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0"/>
              </a:lnSpc>
              <a:spcBef>
                <a:spcPct val="0"/>
              </a:spcBef>
            </a:pPr>
            <a:r>
              <a:rPr lang="en-US" sz="17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Att. Corners Right ({nrc} corners)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43257" y="3508263"/>
            <a:ext cx="3024000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many attacking corners led to a shot? (Right Side)</a:t>
            </a:r>
          </a:p>
          <a:p>
            <a:pPr algn="ctr">
              <a:lnSpc>
                <a:spcPts val="1959"/>
              </a:lnSpc>
              <a:spcBef>
                <a:spcPct val="0"/>
              </a:spcBef>
            </a:pPr>
            <a:endParaRPr lang="en-US" sz="1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31136" y="3508263"/>
            <a:ext cx="3024000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many attacking corners led to a shot? (Left Side)</a:t>
            </a:r>
          </a:p>
          <a:p>
            <a:pPr algn="ctr">
              <a:lnSpc>
                <a:spcPts val="1959"/>
              </a:lnSpc>
              <a:spcBef>
                <a:spcPct val="0"/>
              </a:spcBef>
            </a:pPr>
            <a:endParaRPr lang="en-US" sz="1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43622" y="6231383"/>
            <a:ext cx="3512195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CORNER TAKERS (LEFT)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9072" y="215615"/>
            <a:ext cx="2633204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Opponent analysis -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Corners {TEAM_NAME}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850892" y="1777001"/>
            <a:ext cx="3409850" cy="1542985"/>
            <a:chOff x="0" y="0"/>
            <a:chExt cx="1222013" cy="5529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22013" cy="552971"/>
            </a:xfrm>
            <a:custGeom>
              <a:avLst/>
              <a:gdLst/>
              <a:ahLst/>
              <a:cxnLst/>
              <a:rect l="l" t="t" r="r" b="b"/>
              <a:pathLst>
                <a:path w="1222013" h="552971">
                  <a:moveTo>
                    <a:pt x="0" y="0"/>
                  </a:moveTo>
                  <a:lnTo>
                    <a:pt x="1222013" y="0"/>
                  </a:lnTo>
                  <a:lnTo>
                    <a:pt x="1222013" y="552971"/>
                  </a:lnTo>
                  <a:lnTo>
                    <a:pt x="0" y="552971"/>
                  </a:lnTo>
                  <a:close/>
                </a:path>
              </a:pathLst>
            </a:custGeom>
            <a:solidFill>
              <a:srgbClr val="D7848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222013" cy="572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{Corners_right_positions_vis}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89783" y="4177236"/>
            <a:ext cx="3409850" cy="1542985"/>
            <a:chOff x="0" y="0"/>
            <a:chExt cx="1222013" cy="55297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22013" cy="552971"/>
            </a:xfrm>
            <a:custGeom>
              <a:avLst/>
              <a:gdLst/>
              <a:ahLst/>
              <a:cxnLst/>
              <a:rect l="l" t="t" r="r" b="b"/>
              <a:pathLst>
                <a:path w="1222013" h="552971">
                  <a:moveTo>
                    <a:pt x="0" y="0"/>
                  </a:moveTo>
                  <a:lnTo>
                    <a:pt x="1222013" y="0"/>
                  </a:lnTo>
                  <a:lnTo>
                    <a:pt x="1222013" y="552971"/>
                  </a:lnTo>
                  <a:lnTo>
                    <a:pt x="0" y="552971"/>
                  </a:lnTo>
                  <a:close/>
                </a:path>
              </a:pathLst>
            </a:custGeom>
            <a:solidFill>
              <a:srgbClr val="D7848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222013" cy="572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{Corners_left_shots_vis}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850892" y="4177236"/>
            <a:ext cx="3409850" cy="1542985"/>
            <a:chOff x="0" y="0"/>
            <a:chExt cx="1222013" cy="55297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22013" cy="552971"/>
            </a:xfrm>
            <a:custGeom>
              <a:avLst/>
              <a:gdLst/>
              <a:ahLst/>
              <a:cxnLst/>
              <a:rect l="l" t="t" r="r" b="b"/>
              <a:pathLst>
                <a:path w="1222013" h="552971">
                  <a:moveTo>
                    <a:pt x="0" y="0"/>
                  </a:moveTo>
                  <a:lnTo>
                    <a:pt x="1222013" y="0"/>
                  </a:lnTo>
                  <a:lnTo>
                    <a:pt x="1222013" y="552971"/>
                  </a:lnTo>
                  <a:lnTo>
                    <a:pt x="0" y="552971"/>
                  </a:lnTo>
                  <a:close/>
                </a:path>
              </a:pathLst>
            </a:custGeom>
            <a:solidFill>
              <a:srgbClr val="D7848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222013" cy="572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{Corners_right_shots_vis}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0" y="10452227"/>
            <a:ext cx="7560000" cy="278668"/>
            <a:chOff x="0" y="0"/>
            <a:chExt cx="2709333" cy="9986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09333" cy="99868"/>
            </a:xfrm>
            <a:custGeom>
              <a:avLst/>
              <a:gdLst/>
              <a:ahLst/>
              <a:cxnLst/>
              <a:rect l="l" t="t" r="r" b="b"/>
              <a:pathLst>
                <a:path w="2709333" h="99868">
                  <a:moveTo>
                    <a:pt x="0" y="0"/>
                  </a:moveTo>
                  <a:lnTo>
                    <a:pt x="2709333" y="0"/>
                  </a:lnTo>
                  <a:lnTo>
                    <a:pt x="2709333" y="99868"/>
                  </a:lnTo>
                  <a:lnTo>
                    <a:pt x="0" y="99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2709333" cy="1093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4"/>
                </a:lnSpc>
              </a:pPr>
              <a:r>
                <a:rPr lang="en-US" sz="104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{bottom_bar}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2483" y="4646651"/>
            <a:ext cx="3367368" cy="103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 spc="-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Def. Corners Left: how many crosses turned into a shot?</a:t>
            </a:r>
          </a:p>
          <a:p>
            <a:pPr algn="ctr">
              <a:lnSpc>
                <a:spcPts val="1679"/>
              </a:lnSpc>
              <a:spcBef>
                <a:spcPct val="0"/>
              </a:spcBef>
            </a:pPr>
            <a:endParaRPr lang="en-US" sz="1200" b="1" spc="-6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1679"/>
              </a:lnSpc>
              <a:spcBef>
                <a:spcPct val="0"/>
              </a:spcBef>
            </a:pPr>
            <a:endParaRPr lang="en-US" sz="1200" b="1" spc="-6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1679"/>
              </a:lnSpc>
              <a:spcBef>
                <a:spcPct val="0"/>
              </a:spcBef>
            </a:pPr>
            <a:endParaRPr lang="en-US" sz="1200" b="1" spc="-6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954058" y="4646651"/>
            <a:ext cx="3342848" cy="61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Def. Corners Right: how many crosses turned into a shot?</a:t>
            </a:r>
          </a:p>
          <a:p>
            <a:pPr algn="ctr">
              <a:lnSpc>
                <a:spcPts val="1679"/>
              </a:lnSpc>
              <a:spcBef>
                <a:spcPct val="0"/>
              </a:spcBef>
            </a:pPr>
            <a:endParaRPr lang="en-US" sz="12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7560000" cy="921128"/>
            <a:chOff x="0" y="0"/>
            <a:chExt cx="2709333" cy="3301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09333" cy="330111"/>
            </a:xfrm>
            <a:custGeom>
              <a:avLst/>
              <a:gdLst/>
              <a:ahLst/>
              <a:cxnLst/>
              <a:rect l="l" t="t" r="r" b="b"/>
              <a:pathLst>
                <a:path w="2709333" h="330111">
                  <a:moveTo>
                    <a:pt x="0" y="0"/>
                  </a:moveTo>
                  <a:lnTo>
                    <a:pt x="2709333" y="0"/>
                  </a:lnTo>
                  <a:lnTo>
                    <a:pt x="2709333" y="330111"/>
                  </a:lnTo>
                  <a:lnTo>
                    <a:pt x="0" y="3301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709333" cy="358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452227"/>
            <a:ext cx="7560000" cy="278668"/>
            <a:chOff x="0" y="0"/>
            <a:chExt cx="2709333" cy="998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3" cy="99868"/>
            </a:xfrm>
            <a:custGeom>
              <a:avLst/>
              <a:gdLst/>
              <a:ahLst/>
              <a:cxnLst/>
              <a:rect l="l" t="t" r="r" b="b"/>
              <a:pathLst>
                <a:path w="2709333" h="99868">
                  <a:moveTo>
                    <a:pt x="0" y="0"/>
                  </a:moveTo>
                  <a:lnTo>
                    <a:pt x="2709333" y="0"/>
                  </a:lnTo>
                  <a:lnTo>
                    <a:pt x="2709333" y="99868"/>
                  </a:lnTo>
                  <a:lnTo>
                    <a:pt x="0" y="99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709333" cy="1093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4"/>
                </a:lnSpc>
              </a:pPr>
              <a:r>
                <a:rPr lang="en-US" sz="104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{bottom_bar}</a:t>
              </a:r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42483" y="1901132"/>
          <a:ext cx="6575635" cy="2229498"/>
        </p:xfrm>
        <a:graphic>
          <a:graphicData uri="http://schemas.openxmlformats.org/drawingml/2006/table">
            <a:tbl>
              <a:tblPr/>
              <a:tblGrid>
                <a:gridCol w="1848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1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317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Player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2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Corners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2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Cross Succ. %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2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1st choice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2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2nd choice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27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96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{best_taker_r}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{n_c_r1}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{cs_r1}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{1stc_r1}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{2ndc_r1}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569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{second_best_taker_r}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{n_c_r2}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{cs_r2}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{1stc_r2}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{2ndc_r2}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65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{third_best_taker_r}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{n_c_r3}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{cs_r3}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{1stc_r3}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{2ndc_r3}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140431" y="5179565"/>
            <a:ext cx="3554058" cy="1968520"/>
            <a:chOff x="-51681" y="-152502"/>
            <a:chExt cx="1273694" cy="705473"/>
          </a:xfrm>
        </p:grpSpPr>
        <p:sp>
          <p:nvSpPr>
            <p:cNvPr id="12" name="Freeform 12"/>
            <p:cNvSpPr/>
            <p:nvPr/>
          </p:nvSpPr>
          <p:spPr>
            <a:xfrm>
              <a:off x="-51681" y="-152502"/>
              <a:ext cx="1222013" cy="552971"/>
            </a:xfrm>
            <a:custGeom>
              <a:avLst/>
              <a:gdLst/>
              <a:ahLst/>
              <a:cxnLst/>
              <a:rect l="l" t="t" r="r" b="b"/>
              <a:pathLst>
                <a:path w="1222013" h="552971">
                  <a:moveTo>
                    <a:pt x="0" y="0"/>
                  </a:moveTo>
                  <a:lnTo>
                    <a:pt x="1222013" y="0"/>
                  </a:lnTo>
                  <a:lnTo>
                    <a:pt x="1222013" y="552971"/>
                  </a:lnTo>
                  <a:lnTo>
                    <a:pt x="0" y="552971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/>
            <a:p>
              <a:pPr algn="ctr">
                <a:lnSpc>
                  <a:spcPts val="1679"/>
                </a:lnSpc>
              </a:pPr>
              <a:endParaRPr lang="en-US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ctr">
                <a:lnSpc>
                  <a:spcPts val="1679"/>
                </a:lnSpc>
              </a:pPr>
              <a:endParaRPr lang="en-US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ctr">
                <a:lnSpc>
                  <a:spcPts val="1679"/>
                </a:lnSpc>
              </a:pPr>
              <a:endParaRPr lang="en-US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ctr">
                <a:lnSpc>
                  <a:spcPts val="1679"/>
                </a:lnSpc>
              </a:pPr>
              <a:r>
                <a:rPr lang="en-US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{def_Corners_left_shots_vis}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222013" cy="572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20557" y="5179564"/>
            <a:ext cx="3409850" cy="1542985"/>
            <a:chOff x="0" y="0"/>
            <a:chExt cx="1222013" cy="5529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22013" cy="552971"/>
            </a:xfrm>
            <a:custGeom>
              <a:avLst/>
              <a:gdLst/>
              <a:ahLst/>
              <a:cxnLst/>
              <a:rect l="l" t="t" r="r" b="b"/>
              <a:pathLst>
                <a:path w="1222013" h="552971">
                  <a:moveTo>
                    <a:pt x="0" y="0"/>
                  </a:moveTo>
                  <a:lnTo>
                    <a:pt x="1222013" y="0"/>
                  </a:lnTo>
                  <a:lnTo>
                    <a:pt x="1222013" y="552971"/>
                  </a:lnTo>
                  <a:lnTo>
                    <a:pt x="0" y="552971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/>
            <a:p>
              <a:pPr algn="ctr">
                <a:lnSpc>
                  <a:spcPts val="1679"/>
                </a:lnSpc>
              </a:pPr>
              <a:endParaRPr lang="en-US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ctr">
                <a:lnSpc>
                  <a:spcPts val="1679"/>
                </a:lnSpc>
              </a:pPr>
              <a:endParaRPr lang="en-US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ctr">
                <a:lnSpc>
                  <a:spcPts val="1679"/>
                </a:lnSpc>
              </a:pPr>
              <a:endParaRPr lang="en-US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ctr">
                <a:lnSpc>
                  <a:spcPts val="1679"/>
                </a:lnSpc>
              </a:pPr>
              <a:r>
                <a:rPr lang="en-US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{def_Corners_left_shots_vis}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222013" cy="572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48827" y="7468778"/>
            <a:ext cx="3445662" cy="2636178"/>
            <a:chOff x="0" y="0"/>
            <a:chExt cx="1234847" cy="944747"/>
          </a:xfrm>
          <a:solidFill>
            <a:schemeClr val="bg1"/>
          </a:solidFill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34847" cy="944747"/>
            </a:xfrm>
            <a:custGeom>
              <a:avLst/>
              <a:gdLst/>
              <a:ahLst/>
              <a:cxnLst/>
              <a:rect l="l" t="t" r="r" b="b"/>
              <a:pathLst>
                <a:path w="1234847" h="944747">
                  <a:moveTo>
                    <a:pt x="0" y="0"/>
                  </a:moveTo>
                  <a:lnTo>
                    <a:pt x="1234847" y="0"/>
                  </a:lnTo>
                  <a:lnTo>
                    <a:pt x="1234847" y="944747"/>
                  </a:lnTo>
                  <a:lnTo>
                    <a:pt x="0" y="944747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LID4096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234847" cy="96379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{att_corners_headers}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612169" y="1376469"/>
            <a:ext cx="4332162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CORNER TAKERS (RIGHT)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859" y="7121469"/>
            <a:ext cx="4072745" cy="203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Attacking corners: Headers &amp; Header goals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809851" y="7121469"/>
            <a:ext cx="3602340" cy="203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Defending corners: Headers &amp; Header goals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920557" y="7468778"/>
            <a:ext cx="3445662" cy="2636178"/>
            <a:chOff x="0" y="0"/>
            <a:chExt cx="1234847" cy="944747"/>
          </a:xfrm>
          <a:solidFill>
            <a:schemeClr val="bg1"/>
          </a:solidFill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34847" cy="944747"/>
            </a:xfrm>
            <a:custGeom>
              <a:avLst/>
              <a:gdLst/>
              <a:ahLst/>
              <a:cxnLst/>
              <a:rect l="l" t="t" r="r" b="b"/>
              <a:pathLst>
                <a:path w="1234847" h="944747">
                  <a:moveTo>
                    <a:pt x="0" y="0"/>
                  </a:moveTo>
                  <a:lnTo>
                    <a:pt x="1234847" y="0"/>
                  </a:lnTo>
                  <a:lnTo>
                    <a:pt x="1234847" y="944747"/>
                  </a:lnTo>
                  <a:lnTo>
                    <a:pt x="0" y="944747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LID4096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1234847" cy="96379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{def_corners_headers}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29382" y="131669"/>
            <a:ext cx="749236" cy="707542"/>
            <a:chOff x="0" y="0"/>
            <a:chExt cx="268509" cy="25356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68509" cy="253567"/>
            </a:xfrm>
            <a:custGeom>
              <a:avLst/>
              <a:gdLst/>
              <a:ahLst/>
              <a:cxnLst/>
              <a:rect l="l" t="t" r="r" b="b"/>
              <a:pathLst>
                <a:path w="268509" h="253567">
                  <a:moveTo>
                    <a:pt x="0" y="0"/>
                  </a:moveTo>
                  <a:lnTo>
                    <a:pt x="268509" y="0"/>
                  </a:lnTo>
                  <a:lnTo>
                    <a:pt x="268509" y="253567"/>
                  </a:lnTo>
                  <a:lnTo>
                    <a:pt x="0" y="253567"/>
                  </a:lnTo>
                  <a:close/>
                </a:path>
              </a:pathLst>
            </a:custGeom>
            <a:solidFill>
              <a:srgbClr val="D7848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268509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{LOGO}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469072" y="215615"/>
            <a:ext cx="2633204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Opponent analysis -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Corners {TEAM_NAME}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402</Words>
  <Application>Microsoft Office PowerPoint</Application>
  <PresentationFormat>Custom</PresentationFormat>
  <Paragraphs>73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Canva Sans Bold</vt:lpstr>
      <vt:lpstr>Canva Sans</vt:lpstr>
      <vt:lpstr>Arial</vt:lpstr>
      <vt:lpstr>Arimo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Att. Corners Left (84 corners)</dc:title>
  <dc:creator>Kramer, Roeland</dc:creator>
  <cp:lastModifiedBy>roeland kramer</cp:lastModifiedBy>
  <cp:revision>3</cp:revision>
  <dcterms:created xsi:type="dcterms:W3CDTF">2006-08-16T00:00:00Z</dcterms:created>
  <dcterms:modified xsi:type="dcterms:W3CDTF">2026-02-24T16:38:37Z</dcterms:modified>
  <dc:identifier>DAHCOi_O9f0</dc:identifier>
</cp:coreProperties>
</file>